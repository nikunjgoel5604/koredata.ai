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32329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0" y="0"/>
            <a:ext cx="54864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84064" y="0"/>
            <a:ext cx="4059936" cy="5143500"/>
          </a:xfrm>
          <a:prstGeom prst="rect">
            <a:avLst/>
          </a:prstGeom>
          <a:solidFill>
            <a:srgbClr val="060A0F"/>
          </a:solidFill>
          <a:ln w="12700">
            <a:solidFill>
              <a:srgbClr val="060A0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50292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5029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K∂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98448" y="53035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Kore_data-ex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2194560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3716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INTELLIGENCE PLATFORM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548640" y="1783080"/>
            <a:ext cx="42976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Your
Raw Data into
</a:t>
            </a:r>
            <a:r>
              <a:rPr lang="en-US" sz="3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548640" y="374904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EDA, ETL pipelines, ML modeling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AI-powered insights — all in one platform.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0" y="640080"/>
            <a:ext cx="320040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0" y="640080"/>
            <a:ext cx="54864" cy="10972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15000" y="7315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10x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5715000" y="12070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Analysis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0" y="2057400"/>
            <a:ext cx="320040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0" y="2057400"/>
            <a:ext cx="54864" cy="10972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15000" y="21488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715000" y="26243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Pipeline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0" y="3474720"/>
            <a:ext cx="320040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0" y="3474720"/>
            <a:ext cx="54864" cy="10972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15000" y="35661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5715000" y="40416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Insights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84632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Client Synopsis  ·  2025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teams waste 80% of their time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preparing data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4023360" cy="114300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920240"/>
            <a:ext cx="54864" cy="1143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99339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 Manual &amp; Slow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359152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spent on repetitive cleaning, formatting and validation before any analysis can begin.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846320" y="1920240"/>
            <a:ext cx="4023360" cy="114300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46320" y="1920240"/>
            <a:ext cx="54864" cy="1143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199339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  Fragmented Tools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0" y="2359152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juggle Excel, Python scripts, BI tools and databases — no unified workflow.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3246120"/>
            <a:ext cx="4023360" cy="114300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246120"/>
            <a:ext cx="54864" cy="1143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31927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Error Prone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3685032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data handling introduces mistakes that propagate silently into reports and decisions.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846320" y="3246120"/>
            <a:ext cx="4023360" cy="114300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46320" y="3246120"/>
            <a:ext cx="54864" cy="1143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331927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💸  Expensive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0" y="3685032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analysts spending time on grunt work. High cost, low ROI on talent.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platform. Upload. Analyze. Act.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1554480" cy="1554480"/>
          </a:xfrm>
          <a:prstGeom prst="ellipse">
            <a:avLst/>
          </a:prstGeom>
          <a:solidFill>
            <a:srgbClr val="3B82F6">
              <a:alpha val="2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544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029968" y="2304288"/>
            <a:ext cx="594360" cy="54864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94560" y="1554480"/>
            <a:ext cx="1554480" cy="1554480"/>
          </a:xfrm>
          <a:prstGeom prst="ellipse">
            <a:avLst/>
          </a:prstGeom>
          <a:solidFill>
            <a:srgbClr val="6366F1">
              <a:alpha val="20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94560" y="15544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767328" y="2304288"/>
            <a:ext cx="594360" cy="54864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31920" y="1554480"/>
            <a:ext cx="1554480" cy="1554480"/>
          </a:xfrm>
          <a:prstGeom prst="ellipse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31920" y="15544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504688" y="2304288"/>
            <a:ext cx="594360" cy="54864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9280" y="1554480"/>
            <a:ext cx="1554480" cy="1554480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15544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242048" y="2304288"/>
            <a:ext cx="594360" cy="54864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06640" y="1554480"/>
            <a:ext cx="1554480" cy="1554480"/>
          </a:xfrm>
          <a:prstGeom prst="ellipse">
            <a:avLst/>
          </a:prstGeom>
          <a:solidFill>
            <a:srgbClr val="EC4899">
              <a:alpha val="20000"/>
            </a:srgbClr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06640" y="15544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342900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Automated EDA with 25+ statistical insights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366217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Intelligent missing value handling (Mean / Median / Mode)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389534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Real-time data quality scoring (0–100 with Grade A–F)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412851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Smart ML model selection — Regression, Classification, Deep Learning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36168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Workspace management — multi-project, multi-team support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459486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Secure login — OTP + Password auth, session tracking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2651760" cy="182880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77240"/>
            <a:ext cx="2651760" cy="411480"/>
          </a:xfrm>
          <a:prstGeom prst="rect">
            <a:avLst/>
          </a:prstGeom>
          <a:solidFill>
            <a:srgbClr val="3B82F6">
              <a:alpha val="18000"/>
            </a:srgbClr>
          </a:solidFill>
          <a:ln w="12700">
            <a:solidFill>
              <a:srgbClr val="3B82F6">
                <a:alpha val="1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83210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EDA Engine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29768" y="128016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25+ auto-generated insights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29768" y="166420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Statistical summaries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29768" y="204825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Outlier &amp; anomaly detection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0" y="777240"/>
            <a:ext cx="2651760" cy="182880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777240"/>
            <a:ext cx="2651760" cy="411480"/>
          </a:xfrm>
          <a:prstGeom prst="rect">
            <a:avLst/>
          </a:prstGeom>
          <a:solidFill>
            <a:srgbClr val="10B981">
              <a:alpha val="18000"/>
            </a:srgbClr>
          </a:solidFill>
          <a:ln w="12700">
            <a:solidFill>
              <a:srgbClr val="10B981">
                <a:alpha val="18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10128" y="83210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🧹  Smart ETL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10128" y="128016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Auto missing value handling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10128" y="166420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Date format detection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310128" y="204825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Column type casting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080760" y="777240"/>
            <a:ext cx="2651760" cy="182880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80760" y="777240"/>
            <a:ext cx="2651760" cy="411480"/>
          </a:xfrm>
          <a:prstGeom prst="rect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F59E0B">
                <a:alpha val="18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90488" y="83210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Accuracy Scoring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90488" y="128016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5-dimension quality score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190488" y="166420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ML-readiness grade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190488" y="204825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Actionable suggestions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" y="2788920"/>
            <a:ext cx="2651760" cy="182880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2788920"/>
            <a:ext cx="2651760" cy="411480"/>
          </a:xfrm>
          <a:prstGeom prst="rect">
            <a:avLst/>
          </a:prstGeom>
          <a:solidFill>
            <a:srgbClr val="8B5CF6">
              <a:alpha val="18000"/>
            </a:srgbClr>
          </a:solidFill>
          <a:ln w="12700">
            <a:solidFill>
              <a:srgbClr val="8B5CF6">
                <a:alpha val="18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9768" y="284378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ML Pipeline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29768" y="329184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Auto model selection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29768" y="367588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Feature engineering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29768" y="405993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Overfitting control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00400" y="2788920"/>
            <a:ext cx="2651760" cy="182880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0" y="2788920"/>
            <a:ext cx="2651760" cy="411480"/>
          </a:xfrm>
          <a:prstGeom prst="rect">
            <a:avLst/>
          </a:prstGeom>
          <a:solidFill>
            <a:srgbClr val="EC4899">
              <a:alpha val="18000"/>
            </a:srgbClr>
          </a:solidFill>
          <a:ln w="12700">
            <a:solidFill>
              <a:srgbClr val="EC4899">
                <a:alpha val="18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10128" y="284378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Enterprise Auth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310128" y="329184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OTP + Password login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310128" y="367588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Session tracking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310128" y="405993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Activity audit log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080760" y="2788920"/>
            <a:ext cx="2651760" cy="182880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080760" y="2788920"/>
            <a:ext cx="2651760" cy="411480"/>
          </a:xfrm>
          <a:prstGeom prst="rect">
            <a:avLst/>
          </a:prstGeom>
          <a:solidFill>
            <a:srgbClr val="10B981">
              <a:alpha val="18000"/>
            </a:srgbClr>
          </a:solidFill>
          <a:ln w="12700">
            <a:solidFill>
              <a:srgbClr val="10B981">
                <a:alpha val="18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90488" y="284378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Visualization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190488" y="329184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Histograms &amp; boxplots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190488" y="367588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Correlation heatmap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190488" y="405993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Scatter pair charts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file to complete analysis in seconds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4023360" cy="1024128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591056"/>
            <a:ext cx="493776" cy="493776"/>
          </a:xfrm>
          <a:prstGeom prst="ellipse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59105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88720" y="148132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&amp; Login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88720" y="18288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OTP or password login. Your account and data are isolated and encrypted.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846320" y="1389888"/>
            <a:ext cx="4023360" cy="1024128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56048" y="1591056"/>
            <a:ext cx="493776" cy="493776"/>
          </a:xfrm>
          <a:prstGeom prst="ellipse">
            <a:avLst/>
          </a:prstGeom>
          <a:solidFill>
            <a:srgbClr val="6366F1">
              <a:alpha val="2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56048" y="159105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577840" y="148132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Workspace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577840" y="18288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 your projects in workspaces. Each workspace holds datasets and analyses separately.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2560320"/>
            <a:ext cx="4023360" cy="1024128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6928" y="2761488"/>
            <a:ext cx="493776" cy="493776"/>
          </a:xfrm>
          <a:prstGeom prst="ellipse">
            <a:avLst/>
          </a:prstGeom>
          <a:solidFill>
            <a:srgbClr val="10B981">
              <a:alpha val="2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276148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88720" y="26517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Dataset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88720" y="299923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&amp; drop CSV, Excel, JSON or Parquet files. Auto-detected format and encoding.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846320" y="2560320"/>
            <a:ext cx="4023360" cy="1024128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956048" y="2761488"/>
            <a:ext cx="493776" cy="493776"/>
          </a:xfrm>
          <a:prstGeom prst="ellipse">
            <a:avLst/>
          </a:prstGeom>
          <a:solidFill>
            <a:srgbClr val="F59E0B">
              <a:alpha val="2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56048" y="276148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577840" y="26517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EDA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577840" y="299923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runs 25+ analysis steps automatically — structure, quality, stats, correlations.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57200" y="3730752"/>
            <a:ext cx="4023360" cy="1024128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66928" y="3931920"/>
            <a:ext cx="493776" cy="493776"/>
          </a:xfrm>
          <a:prstGeom prst="ellipse">
            <a:avLst/>
          </a:prstGeom>
          <a:solidFill>
            <a:srgbClr val="8B5CF6">
              <a:alpha val="2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393192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88720" y="382219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88720" y="4169664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target column. Platform auto-selects the best model, trains with overfitting protection.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846320" y="3730752"/>
            <a:ext cx="4023360" cy="1024128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956048" y="3931920"/>
            <a:ext cx="493776" cy="493776"/>
          </a:xfrm>
          <a:prstGeom prst="ellipse">
            <a:avLst/>
          </a:prstGeom>
          <a:solidFill>
            <a:srgbClr val="34D399">
              <a:alpha val="25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56048" y="393192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77840" y="382219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&amp; Act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577840" y="4169664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charts, export cleaned data, generate PDF reports and share with your team.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proven, enterprise-grade technology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029200" cy="54864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1143000" cy="548640"/>
          </a:xfrm>
          <a:prstGeom prst="rect">
            <a:avLst/>
          </a:prstGeom>
          <a:solidFill>
            <a:srgbClr val="3B82F6">
              <a:alpha val="18000"/>
            </a:srgbClr>
          </a:solidFill>
          <a:ln w="12700">
            <a:solidFill>
              <a:srgbClr val="3B82F6">
                <a:alpha val="18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087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737360" y="152704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· CSS3 · JavaScript · Chart.js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084832"/>
            <a:ext cx="5029200" cy="54864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084832"/>
            <a:ext cx="1143000" cy="548640"/>
          </a:xfrm>
          <a:prstGeom prst="rect">
            <a:avLst/>
          </a:prstGeom>
          <a:solidFill>
            <a:srgbClr val="6366F1">
              <a:alpha val="18000"/>
            </a:srgbClr>
          </a:solidFill>
          <a:ln w="12700">
            <a:solidFill>
              <a:srgbClr val="6366F1">
                <a:alpha val="18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17627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737360" y="21945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FastAPI · RESTful Architecture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752344"/>
            <a:ext cx="5029200" cy="54864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752344"/>
            <a:ext cx="1143000" cy="548640"/>
          </a:xfrm>
          <a:prstGeom prst="rect">
            <a:avLst/>
          </a:prstGeom>
          <a:solidFill>
            <a:srgbClr val="10B981">
              <a:alpha val="18000"/>
            </a:srgbClr>
          </a:solidFill>
          <a:ln w="12700">
            <a:solidFill>
              <a:srgbClr val="10B981">
                <a:alpha val="18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84378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737360" y="286207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· NumPy · Scikit-learn · XGBoost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419856"/>
            <a:ext cx="5029200" cy="54864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419856"/>
            <a:ext cx="1143000" cy="548640"/>
          </a:xfrm>
          <a:prstGeom prst="rect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F59E0B">
                <a:alpha val="18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51129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737360" y="352958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· Relational Schema · Activity Tracking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4087368"/>
            <a:ext cx="5029200" cy="54864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4087368"/>
            <a:ext cx="1143000" cy="548640"/>
          </a:xfrm>
          <a:prstGeom prst="rect">
            <a:avLst/>
          </a:prstGeom>
          <a:solidFill>
            <a:srgbClr val="EC4899">
              <a:alpha val="18000"/>
            </a:srgbClr>
          </a:solidFill>
          <a:ln w="12700">
            <a:solidFill>
              <a:srgbClr val="EC4899">
                <a:alpha val="18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17880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737360" y="419709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· OTP Email Auth · JWT Sessions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852160" y="1417320"/>
            <a:ext cx="2834640" cy="68580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0" y="14630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943600" y="182880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 File Support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852160" y="2240280"/>
            <a:ext cx="2834640" cy="68580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0" y="22860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943600" y="265176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Formats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852160" y="3063240"/>
            <a:ext cx="2834640" cy="68580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0" y="31089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25+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5943600" y="34747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Steps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852160" y="3886200"/>
            <a:ext cx="2834640" cy="68580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43600" y="39319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99.9%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5943600" y="429768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Uptime Target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MACHINE LEARNING PIPELINE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" y="73152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Kore_data-ex selects, trains and protects every model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2697480" cy="342900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88720"/>
            <a:ext cx="2697480" cy="457200"/>
          </a:xfrm>
          <a:prstGeom prst="rect">
            <a:avLst/>
          </a:prstGeom>
          <a:solidFill>
            <a:srgbClr val="3B82F6">
              <a:alpha val="18000"/>
            </a:srgbClr>
          </a:solidFill>
          <a:ln w="12700">
            <a:solidFill>
              <a:srgbClr val="3B82F6">
                <a:alpha val="18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24358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Feature Engineering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02336" y="1709928"/>
            <a:ext cx="45720" cy="21945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664208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 numeric vs categorical columns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02336" y="2194560"/>
            <a:ext cx="45720" cy="21945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2148840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Skewness check → log transform if |skew| &gt; 1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02336" y="2679192"/>
            <a:ext cx="45720" cy="21945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2633472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filter → drop r &gt; 0.95 pairs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02336" y="3163824"/>
            <a:ext cx="45720" cy="21945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3118104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indicators (_was_missing) as features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02336" y="3648456"/>
            <a:ext cx="45720" cy="21945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3602736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encode low-cardinality categories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02336" y="4133088"/>
            <a:ext cx="45720" cy="21945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4087368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on numeric columns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154680" y="1188720"/>
            <a:ext cx="2697480" cy="342900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54680" y="1188720"/>
            <a:ext cx="2697480" cy="457200"/>
          </a:xfrm>
          <a:prstGeom prst="rect">
            <a:avLst/>
          </a:prstGeom>
          <a:solidFill>
            <a:srgbClr val="10B981">
              <a:alpha val="18000"/>
            </a:srgbClr>
          </a:solidFill>
          <a:ln w="12700">
            <a:solidFill>
              <a:srgbClr val="10B981">
                <a:alpha val="18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64408" y="124358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Smart Model Selection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82696" y="1709928"/>
            <a:ext cx="45720" cy="21945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10712" y="1664208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→ Linear, Ridge, RF, XGBoost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282696" y="2194560"/>
            <a:ext cx="45720" cy="21945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10712" y="2148840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→ Logistic, SVM, RF, MLP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282696" y="2679192"/>
            <a:ext cx="45720" cy="21945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10712" y="2633472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→ K-Means, DBSCAN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282696" y="3163824"/>
            <a:ext cx="45720" cy="21945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10712" y="3118104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→ LSTM / ARIMA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282696" y="3648456"/>
            <a:ext cx="45720" cy="21945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10712" y="3602736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 task type from target dtype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282696" y="4133088"/>
            <a:ext cx="45720" cy="21945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10712" y="4087368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 score ranks all candidates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035040" y="1188720"/>
            <a:ext cx="2697480" cy="342900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035040" y="1188720"/>
            <a:ext cx="2697480" cy="457200"/>
          </a:xfrm>
          <a:prstGeom prst="rect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F59E0B">
                <a:alpha val="18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44768" y="124358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Epoch &amp; Overfitting Control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163056" y="1709928"/>
            <a:ext cx="45720" cy="2194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91072" y="1664208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 — halt when val_loss stalls 10 rounds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163056" y="2194560"/>
            <a:ext cx="45720" cy="2194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91072" y="2148840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layers (0.3–0.5) on Dense layers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163056" y="2679192"/>
            <a:ext cx="45720" cy="2194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91072" y="2633472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Regularization penalises complexity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163056" y="3163824"/>
            <a:ext cx="45720" cy="2194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91072" y="3118104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 scheduler — reduce on plateau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163056" y="3648456"/>
            <a:ext cx="45720" cy="2194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91072" y="3602736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Val / Test split: 70 / 15 / 15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163056" y="4133088"/>
            <a:ext cx="45720" cy="2194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91072" y="4087368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 range: 50–500, auto-stopped by callbacks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0" y="4690872"/>
            <a:ext cx="9144000" cy="1828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11480" y="4727448"/>
            <a:ext cx="1207008" cy="256032"/>
          </a:xfrm>
          <a:prstGeom prst="rect">
            <a:avLst/>
          </a:prstGeom>
          <a:solidFill>
            <a:srgbClr val="3B82F6">
              <a:alpha val="2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11480" y="4727448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Score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1636776" y="4841748"/>
            <a:ext cx="146304" cy="2743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801368" y="4727448"/>
            <a:ext cx="1207008" cy="256032"/>
          </a:xfrm>
          <a:prstGeom prst="rect">
            <a:avLst/>
          </a:prstGeom>
          <a:solidFill>
            <a:srgbClr val="3B82F6">
              <a:alpha val="2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801368" y="4727448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Set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3026664" y="4841748"/>
            <a:ext cx="146304" cy="2743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191256" y="4727448"/>
            <a:ext cx="1207008" cy="256032"/>
          </a:xfrm>
          <a:prstGeom prst="rect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191256" y="4727448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Pool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4416552" y="4841748"/>
            <a:ext cx="146304" cy="2743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581144" y="4727448"/>
            <a:ext cx="1207008" cy="256032"/>
          </a:xfrm>
          <a:prstGeom prst="rect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581144" y="4727448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Rank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5806440" y="4841748"/>
            <a:ext cx="146304" cy="2743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971032" y="4727448"/>
            <a:ext cx="1207008" cy="256032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971032" y="4727448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7196328" y="4841748"/>
            <a:ext cx="146304" cy="2743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360920" y="4727448"/>
            <a:ext cx="1207008" cy="256032"/>
          </a:xfrm>
          <a:prstGeom prst="rect">
            <a:avLst/>
          </a:prstGeom>
          <a:solidFill>
            <a:srgbClr val="22C55E">
              <a:alpha val="2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360920" y="4727448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50A14"/>
          </a:solidFill>
          <a:ln w="12700">
            <a:solidFill>
              <a:srgbClr val="050A14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65760" y="4983480"/>
            <a:ext cx="84124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without overfitting — the core promise of the Kore ML pipeline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WHY KORE OVER AUTOML, ZOHO &amp; METABASE?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8503920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5" name="Text 3"/>
          <p:cNvSpPr/>
          <p:nvPr/>
        </p:nvSpPr>
        <p:spPr>
          <a:xfrm>
            <a:off x="320040" y="74980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377440" y="74980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Kore_data-ex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206240" y="749808"/>
            <a:ext cx="22794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AutoML</a:t>
            </a: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	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727370" y="749808"/>
            <a:ext cx="211487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Zoho Analytics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772400" y="74980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359152" y="749808"/>
            <a:ext cx="1801368" cy="4005072"/>
          </a:xfrm>
          <a:prstGeom prst="rect">
            <a:avLst/>
          </a:prstGeom>
          <a:solidFill>
            <a:srgbClr val="3B82F6">
              <a:alpha val="8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1207008"/>
            <a:ext cx="8503920" cy="329184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20700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EDA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377440" y="120700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Full — 25 steps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206240" y="1207008"/>
            <a:ext cx="235131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Partial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754803" y="1207008"/>
            <a:ext cx="211487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Manual setup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772400" y="120700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20040" y="1559052"/>
            <a:ext cx="8503920" cy="329184"/>
          </a:xfrm>
          <a:prstGeom prst="rect">
            <a:avLst/>
          </a:prstGeom>
          <a:solidFill>
            <a:srgbClr val="0A0F1A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8" name="Text 16"/>
          <p:cNvSpPr/>
          <p:nvPr/>
        </p:nvSpPr>
        <p:spPr>
          <a:xfrm>
            <a:off x="320040" y="155905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Score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377440" y="1559052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5-dim A–F grade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206240" y="1559052"/>
            <a:ext cx="22794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None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754802" y="1559052"/>
            <a:ext cx="206915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Basic checks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772400" y="1559052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20040" y="1911096"/>
            <a:ext cx="8503920" cy="329184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191109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Selection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377440" y="1911096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Auto + explainable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206240" y="1911096"/>
            <a:ext cx="235131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Auto (black-box)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557554" y="1911096"/>
            <a:ext cx="22664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Limited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772400" y="1911096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20040" y="2263140"/>
            <a:ext cx="8503920" cy="329184"/>
          </a:xfrm>
          <a:prstGeom prst="rect">
            <a:avLst/>
          </a:prstGeom>
          <a:solidFill>
            <a:srgbClr val="0A0F1A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0" name="Text 28"/>
          <p:cNvSpPr/>
          <p:nvPr/>
        </p:nvSpPr>
        <p:spPr>
          <a:xfrm>
            <a:off x="320040" y="226314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 Control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377440" y="2263140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Early stop + dropout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206240" y="2263140"/>
            <a:ext cx="22794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Built-in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557554" y="2263140"/>
            <a:ext cx="22664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None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772400" y="2263140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20040" y="2615184"/>
            <a:ext cx="8503920" cy="329184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6" name="Text 34"/>
          <p:cNvSpPr/>
          <p:nvPr/>
        </p:nvSpPr>
        <p:spPr>
          <a:xfrm>
            <a:off x="320040" y="261518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2377440" y="2615184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Auto + indicators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206240" y="2615184"/>
            <a:ext cx="235131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Preprocessing only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485708" y="2615184"/>
            <a:ext cx="233824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None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772400" y="2615184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20040" y="2967228"/>
            <a:ext cx="8503920" cy="329184"/>
          </a:xfrm>
          <a:prstGeom prst="rect">
            <a:avLst/>
          </a:prstGeom>
          <a:solidFill>
            <a:srgbClr val="0A0F1A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2" name="Text 40"/>
          <p:cNvSpPr/>
          <p:nvPr/>
        </p:nvSpPr>
        <p:spPr>
          <a:xfrm>
            <a:off x="320040" y="296722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Tracking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2377440" y="296722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Session-level detail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206240" y="2967228"/>
            <a:ext cx="22794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None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754802" y="2967228"/>
            <a:ext cx="20965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Basic logs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7772400" y="296722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320040" y="3319272"/>
            <a:ext cx="8503920" cy="329184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0040" y="331927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/ Self-hosted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2377440" y="3319272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Fully open stack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4206240" y="3319272"/>
            <a:ext cx="235131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GCP lock-in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727369" y="3319272"/>
            <a:ext cx="209658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SaaS only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7772400" y="3319272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320040" y="3671316"/>
            <a:ext cx="8503920" cy="329184"/>
          </a:xfrm>
          <a:prstGeom prst="rect">
            <a:avLst/>
          </a:prstGeom>
          <a:solidFill>
            <a:srgbClr val="0A0F1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20040" y="367131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Curriculum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2377440" y="3671316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10-phase built-in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4206239" y="3671316"/>
            <a:ext cx="232649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None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7236822" y="3671316"/>
            <a:ext cx="16145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None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7772400" y="3671316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320040" y="4937760"/>
            <a:ext cx="8503920" cy="210312"/>
          </a:xfrm>
          <a:prstGeom prst="rect">
            <a:avLst/>
          </a:prstGeom>
          <a:solidFill>
            <a:srgbClr val="05281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57200" y="4937760"/>
            <a:ext cx="8321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Kore is the ONLY platform combining automated EDA + ML pipeline + 10-phase learning curriculum — built to grow with you.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10-Phase curriculum — Building the product while learning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508760" cy="1261872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" y="1463040"/>
            <a:ext cx="566928" cy="566928"/>
          </a:xfrm>
          <a:prstGeom prst="ellipse">
            <a:avLst/>
          </a:prstGeom>
          <a:solidFill>
            <a:srgbClr val="475569">
              <a:alpha val="20000"/>
            </a:srgbClr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1463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30352" y="21031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121408" y="1371600"/>
            <a:ext cx="1508760" cy="1261872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96896" y="1463040"/>
            <a:ext cx="566928" cy="566928"/>
          </a:xfrm>
          <a:prstGeom prst="ellipse">
            <a:avLst/>
          </a:prstGeom>
          <a:solidFill>
            <a:srgbClr val="3B82F6">
              <a:alpha val="2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96896" y="1463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94560" y="21031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Dev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785616" y="1371600"/>
            <a:ext cx="1508760" cy="1261872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61104" y="1463040"/>
            <a:ext cx="566928" cy="566928"/>
          </a:xfrm>
          <a:prstGeom prst="ellipse">
            <a:avLst/>
          </a:prstGeom>
          <a:solidFill>
            <a:srgbClr val="6366F1">
              <a:alpha val="20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61104" y="1463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58768" y="21031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Dev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449824" y="1371600"/>
            <a:ext cx="1508760" cy="1261872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25312" y="1463040"/>
            <a:ext cx="566928" cy="566928"/>
          </a:xfrm>
          <a:prstGeom prst="ellipse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25312" y="1463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522976" y="21031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114032" y="1371600"/>
            <a:ext cx="1508760" cy="1261872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89520" y="1463040"/>
            <a:ext cx="566928" cy="566928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89520" y="1463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187184" y="21031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&amp; Data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57200" y="2834640"/>
            <a:ext cx="1508760" cy="1261872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32688" y="2926080"/>
            <a:ext cx="566928" cy="566928"/>
          </a:xfrm>
          <a:prstGeom prst="ellipse">
            <a:avLst/>
          </a:prstGeom>
          <a:solidFill>
            <a:srgbClr val="EC4899">
              <a:alpha val="20000"/>
            </a:srgbClr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2688" y="2926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0352" y="35661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&amp; EDA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121408" y="2834640"/>
            <a:ext cx="1508760" cy="1261872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96896" y="2926080"/>
            <a:ext cx="566928" cy="566928"/>
          </a:xfrm>
          <a:prstGeom prst="ellipse">
            <a:avLst/>
          </a:prstGeom>
          <a:solidFill>
            <a:srgbClr val="34D399">
              <a:alpha val="20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96896" y="2926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194560" y="35661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Pipeline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785616" y="2834640"/>
            <a:ext cx="1508760" cy="1261872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261104" y="2926080"/>
            <a:ext cx="566928" cy="566928"/>
          </a:xfrm>
          <a:prstGeom prst="ellipse">
            <a:avLst/>
          </a:prstGeom>
          <a:solidFill>
            <a:srgbClr val="60A5FA">
              <a:alpha val="20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61104" y="2926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858768" y="35661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449824" y="2834640"/>
            <a:ext cx="1508760" cy="1261872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925312" y="2926080"/>
            <a:ext cx="566928" cy="566928"/>
          </a:xfrm>
          <a:prstGeom prst="ellipse">
            <a:avLst/>
          </a:prstGeom>
          <a:solidFill>
            <a:srgbClr val="A78BFA">
              <a:alpha val="2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25312" y="2926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522976" y="35661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ML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7114032" y="2834640"/>
            <a:ext cx="1508760" cy="1261872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589520" y="2926080"/>
            <a:ext cx="566928" cy="566928"/>
          </a:xfrm>
          <a:prstGeom prst="ellipse">
            <a:avLst/>
          </a:prstGeom>
          <a:solidFill>
            <a:srgbClr val="FB923C">
              <a:alpha val="20000"/>
            </a:srgbClr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589520" y="2926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187184" y="35661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&amp; Scale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143500"/>
          </a:xfrm>
          <a:prstGeom prst="rect">
            <a:avLst/>
          </a:prstGeom>
          <a:solidFill>
            <a:srgbClr val="050B14"/>
          </a:solidFill>
          <a:ln w="12700">
            <a:solidFill>
              <a:srgbClr val="050B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0" y="0"/>
            <a:ext cx="54864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84064" y="0"/>
            <a:ext cx="4059936" cy="5143500"/>
          </a:xfrm>
          <a:prstGeom prst="rect">
            <a:avLst/>
          </a:prstGeom>
          <a:solidFill>
            <a:srgbClr val="060A0F"/>
          </a:solidFill>
          <a:ln w="12700">
            <a:solidFill>
              <a:srgbClr val="060A0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20040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100" dirty="0"/>
          </a:p>
          <a:p>
            <a:pPr marL="0" indent="0">
              <a:buNone/>
            </a:pPr>
            <a:r>
              <a:rPr lang="en-US" sz="1100" b="1" kern="0" spc="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4389120" cy="59436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8016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128016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10x faster analysis vs manual workflows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993392"/>
            <a:ext cx="4389120" cy="59436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993392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1993392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quality scoring — no guesswork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706624"/>
            <a:ext cx="4389120" cy="59436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706624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7280" y="2706624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selected and trained automatically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419856"/>
            <a:ext cx="4389120" cy="59436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419856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" y="3419856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tool replacing Excel + scripts + BI + AutoML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133088"/>
            <a:ext cx="4389120" cy="59436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133088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97280" y="4133088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while learning — every feature is educational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0" y="4572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0" y="1005840"/>
            <a:ext cx="3200400" cy="68580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596128" y="1078992"/>
            <a:ext cx="384048" cy="384048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96128" y="1078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108192" y="107899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product demo walkthrough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0" y="1847088"/>
            <a:ext cx="3200400" cy="68580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596128" y="1920240"/>
            <a:ext cx="384048" cy="384048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96128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108192" y="19202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Phase 1–3 deliverables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86400" y="2688336"/>
            <a:ext cx="3200400" cy="68580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596128" y="2761488"/>
            <a:ext cx="384048" cy="384048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96128" y="2761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108192" y="276148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milestone &amp; review schedule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86400" y="3529584"/>
            <a:ext cx="3200400" cy="68580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596128" y="3602736"/>
            <a:ext cx="384048" cy="384048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96128" y="3602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108192" y="360273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&amp; feature refinement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4663440"/>
            <a:ext cx="82296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Kore_data-ex  ·  Data Intelligence Platform  ·  2025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941</Words>
  <Application>Microsoft Office PowerPoint</Application>
  <PresentationFormat>On-screen Show (16:9)</PresentationFormat>
  <Paragraphs>229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Kore_data-ex — Client Synopsis v2</dc:title>
  <dc:subject>PptxGenJS Presentation</dc:subject>
  <dc:creator>PptxGenJS</dc:creator>
  <cp:lastModifiedBy>Nikunj Goel</cp:lastModifiedBy>
  <cp:revision>2</cp:revision>
  <dcterms:created xsi:type="dcterms:W3CDTF">2026-04-02T08:05:26Z</dcterms:created>
  <dcterms:modified xsi:type="dcterms:W3CDTF">2026-04-02T16:07:25Z</dcterms:modified>
</cp:coreProperties>
</file>